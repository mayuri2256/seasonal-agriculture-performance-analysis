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534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6" y="3707600"/>
            <a:ext cx="3888914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sz="1800" b="1" dirty="0" err="1" smtClean="0">
                <a:solidFill>
                  <a:srgbClr val="232D37"/>
                </a:solidFill>
                <a:latin typeface="Aptos"/>
              </a:rPr>
              <a:t>Mayuri</a:t>
            </a:r>
            <a:r>
              <a:rPr lang="en-US" sz="1800" dirty="0">
                <a:solidFill>
                  <a:srgbClr val="232D37"/>
                </a:solidFill>
                <a:latin typeface="Aptos"/>
              </a:rPr>
              <a:t> </a:t>
            </a:r>
            <a:r>
              <a:rPr lang="en-US" sz="1800" dirty="0" smtClean="0">
                <a:solidFill>
                  <a:srgbClr val="232D37"/>
                </a:solidFill>
                <a:latin typeface="Aptos"/>
              </a:rPr>
              <a:t>Sonawane</a:t>
            </a:r>
            <a:r>
              <a:rPr sz="1800" b="1" dirty="0">
                <a:solidFill>
                  <a:srgbClr val="232D37"/>
                </a:solidFill>
                <a:latin typeface="Aptos"/>
              </a:rPr>
              <a:t>
</a:t>
            </a:r>
            <a:r>
              <a:rPr lang="en-US" sz="1800" dirty="0" smtClean="0">
                <a:solidFill>
                  <a:srgbClr val="232D37"/>
                </a:solidFill>
                <a:latin typeface="Aptos"/>
              </a:rPr>
              <a:t>JSPM </a:t>
            </a:r>
            <a:r>
              <a:rPr lang="en-US" sz="1800" dirty="0" err="1" smtClean="0">
                <a:solidFill>
                  <a:srgbClr val="232D37"/>
                </a:solidFill>
                <a:latin typeface="Aptos"/>
              </a:rPr>
              <a:t>Narhe</a:t>
            </a:r>
            <a:r>
              <a:rPr lang="en-US" sz="1800" dirty="0" smtClean="0">
                <a:solidFill>
                  <a:srgbClr val="232D37"/>
                </a:solidFill>
                <a:latin typeface="Aptos"/>
              </a:rPr>
              <a:t> Technical Campus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06" y="2832514"/>
            <a:ext cx="4998720" cy="743448"/>
          </a:xfrm>
        </p:spPr>
        <p:txBody>
          <a:bodyPr>
            <a:normAutofit fontScale="90000"/>
          </a:bodyPr>
          <a:lstStyle/>
          <a:p>
            <a:pPr algn="l"/>
            <a:r>
              <a:rPr sz="2200" b="1" dirty="0">
                <a:solidFill>
                  <a:srgbClr val="19465A"/>
                </a:solidFill>
                <a:latin typeface="Aptos"/>
              </a:rPr>
              <a:t>Seasonal Agriculture Performance Data Analytics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 dirty="0">
                <a:solidFill>
                  <a:srgbClr val="46505A"/>
                </a:solidFill>
                <a:latin typeface="Aptos"/>
              </a:rPr>
              <a:t>AICTE STU ID: </a:t>
            </a:r>
            <a:r>
              <a:rPr lang="en-US" sz="1400" b="1" dirty="0" smtClean="0">
                <a:solidFill>
                  <a:srgbClr val="46505A"/>
                </a:solidFill>
                <a:latin typeface="Aptos"/>
              </a:rPr>
              <a:t>STU6a6a3f875925b1785347975</a:t>
            </a:r>
            <a:endParaRPr sz="1400" b="1" dirty="0">
              <a:solidFill>
                <a:srgbClr val="4650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340528"/>
            <a:ext cx="7778301" cy="420005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Agricultural performance can vary across seasons because environmental conditions, farming practices, resource availability and economic conditions differ.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This project analyzes farm-level agricultural records to identify seasonal differences in yield, production, profitability and resource usage.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The analysis focuses on descriptive, univariate, bivariate and multivariate techniques to derive evidence-based insights.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The objective is to support better understanding of seasonal performance without making unsupported causal claims.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pPr algn="l"/>
            <a:r>
              <a:rPr sz="2400" b="1">
                <a:solidFill>
                  <a:srgbClr val="19465A"/>
                </a:solidFill>
                <a:latin typeface="Aptos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124" y="3061462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pPr algn="l"/>
            <a:r>
              <a:rPr sz="2400" b="1">
                <a:solidFill>
                  <a:srgbClr val="19465A"/>
                </a:solidFill>
                <a:latin typeface="Aptos"/>
              </a:rP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5957" y="1684104"/>
            <a:ext cx="9225689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sz="1600" dirty="0"/>
              <a:t>• Dataset contains 4,000 farm-level records and 28 variables covering location, crop, season, environmental conditions, farming practices, production, economics and water use.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sz="1600" dirty="0"/>
              <a:t>• Data preparation included structural checks, missing-value analysis, duplicate checks and numerical/categorical variable review.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sz="1600" dirty="0"/>
              <a:t>• Missing values were identified in Rainfall, Soil Moisture and Yield; numerical missing values were treated using median imputation, leaving 0 remaining missing values.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sz="1600" dirty="0"/>
              <a:t>• Seasonal comparisons were performed for yield, production, profit and water usage, followed by crop-season comparisons and multivariate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1678974"/>
            <a:ext cx="7904481" cy="3990023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Farmers and farm managers — to understand seasonal performance and resource-use patterns.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Agricultural analysts — to compare crops, seasons and economic outcomes.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Agricultural planners and researchers — to identify patterns that may guide further investigation.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sz="2800" dirty="0"/>
              <a:t>• Students and data professionals — as an example of evidence-based agricultural data analysis.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 algn="l"/>
            <a:r>
              <a:rPr sz="2400" b="1">
                <a:solidFill>
                  <a:srgbClr val="19465A"/>
                </a:solidFill>
                <a:latin typeface="Aptos"/>
              </a:rP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19465A"/>
                </a:solidFill>
                <a:latin typeface="Aptos"/>
              </a:rPr>
              <a:t>TECHNOLOGY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5/14</a:t>
            </a:r>
          </a:p>
        </p:txBody>
      </p:sp>
      <p:sp>
        <p:nvSpPr>
          <p:cNvPr id="8" name="Text Placeholder 7"/>
          <p:cNvSpPr txBox="1">
            <a:spLocks noGrp="1"/>
          </p:cNvSpPr>
          <p:nvPr>
            <p:ph type="body" sz="quarter" idx="12"/>
          </p:nvPr>
        </p:nvSpPr>
        <p:spPr>
          <a:xfrm>
            <a:off x="1682204" y="1278384"/>
            <a:ext cx="9028113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700"/>
              </a:spcAft>
              <a:buNone/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Python — core programming and analysis environment</a:t>
            </a:r>
          </a:p>
          <a:p>
            <a:pPr marL="0" indent="0">
              <a:spcAft>
                <a:spcPts val="700"/>
              </a:spcAft>
              <a:buNone/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Pandas — data loading, cleaning, grouping and aggregation</a:t>
            </a:r>
          </a:p>
          <a:p>
            <a:pPr marL="0" indent="0">
              <a:spcAft>
                <a:spcPts val="700"/>
              </a:spcAft>
              <a:buNone/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NumPy</a:t>
            </a:r>
            <a:r>
              <a:rPr dirty="0"/>
              <a:t> — numerical operations</a:t>
            </a:r>
          </a:p>
          <a:p>
            <a:pPr marL="0" indent="0">
              <a:spcAft>
                <a:spcPts val="700"/>
              </a:spcAft>
              <a:buNone/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Matplotlib</a:t>
            </a:r>
            <a:r>
              <a:rPr dirty="0"/>
              <a:t> — data visualization</a:t>
            </a:r>
          </a:p>
          <a:p>
            <a:pPr marL="0" indent="0">
              <a:spcAft>
                <a:spcPts val="700"/>
              </a:spcAft>
              <a:buNone/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Seaborn</a:t>
            </a:r>
            <a:r>
              <a:rPr dirty="0"/>
              <a:t> — statistical and categorical visualizations</a:t>
            </a:r>
          </a:p>
          <a:p>
            <a:pPr marL="0" indent="0">
              <a:spcAft>
                <a:spcPts val="700"/>
              </a:spcAft>
              <a:buNone/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Analysis techniques — descriptive statistics, univariate, bivariate, multivariate and correlation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Rounded Rectangle 30"/>
          <p:cNvSpPr/>
          <p:nvPr/>
        </p:nvSpPr>
        <p:spPr>
          <a:xfrm>
            <a:off x="640080" y="1143000"/>
            <a:ext cx="18288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A6973"/>
                </a:solidFill>
                <a:latin typeface="Aptos"/>
              </a:defRPr>
            </a:pPr>
            <a:r>
              <a:t>RECORDS</a:t>
            </a:r>
          </a:p>
          <a:p>
            <a:pPr>
              <a:defRPr sz="2400" b="1">
                <a:solidFill>
                  <a:srgbClr val="1E4B5F"/>
                </a:solidFill>
                <a:latin typeface="Aptos Display"/>
              </a:defRPr>
            </a:pPr>
            <a:r>
              <a:t>4,000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1143000"/>
            <a:ext cx="18288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A6973"/>
                </a:solidFill>
                <a:latin typeface="Aptos"/>
              </a:defRPr>
            </a:pPr>
            <a:r>
              <a:t>VARIABLES</a:t>
            </a:r>
          </a:p>
          <a:p>
            <a:pPr>
              <a:defRPr sz="2400" b="1">
                <a:solidFill>
                  <a:srgbClr val="1E4B5F"/>
                </a:solidFill>
                <a:latin typeface="Aptos Display"/>
              </a:defRPr>
            </a:pPr>
            <a:r>
              <a:t>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1143000"/>
            <a:ext cx="201168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A6973"/>
                </a:solidFill>
                <a:latin typeface="Aptos"/>
              </a:defRPr>
            </a:pPr>
            <a:r>
              <a:t>DUPLICATES</a:t>
            </a:r>
          </a:p>
          <a:p>
            <a:pPr>
              <a:defRPr sz="2400" b="1">
                <a:solidFill>
                  <a:srgbClr val="1E4B5F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1143000"/>
            <a:ext cx="201168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A6973"/>
                </a:solidFill>
                <a:latin typeface="Aptos"/>
              </a:defRPr>
            </a:pPr>
            <a:r>
              <a:t>MISSING AFTER CLEANING</a:t>
            </a:r>
          </a:p>
          <a:p>
            <a:pPr>
              <a:defRPr sz="2400" b="1">
                <a:solidFill>
                  <a:srgbClr val="1E4B5F"/>
                </a:solidFill>
                <a:latin typeface="Aptos Display"/>
              </a:defRPr>
            </a:pPr>
            <a:r>
              <a:t>0</a:t>
            </a:r>
          </a:p>
        </p:txBody>
      </p:sp>
      <p:pic>
        <p:nvPicPr>
          <p:cNvPr id="35" name="Picture 34" descr="yield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5212080" cy="299817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72200" y="2423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465A"/>
                </a:solidFill>
                <a:latin typeface="Aptos"/>
              </a:rPr>
              <a:t>Data Quality &amp; Seasonal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97180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Dataset contains 4,000 records across 28 variables.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No duplicate rows were found.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Missing values were present in Rainfall (48), Soil Moisture (40) and Yield (32).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After numerical median imputation, remaining missing values were 0.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Kharif has the largest number of records (1,779).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858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9465A"/>
                </a:solidFill>
                <a:latin typeface="Aptos"/>
              </a:rPr>
              <a:t>Seasonal Yield Comparison</a:t>
            </a:r>
          </a:p>
        </p:txBody>
      </p:sp>
      <p:pic>
        <p:nvPicPr>
          <p:cNvPr id="32" name="Picture 31" descr="yield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486400" cy="315597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09360" y="10972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465A"/>
                </a:solidFill>
                <a:latin typeface="Aptos"/>
              </a:rPr>
              <a:t>Key finding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Kharif has the highest average yield at 5.63 tonnes/ha.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Rabi follows with 5.04 tonnes/ha.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Zaid has the lowest average yield at 4.64 tonnes/ha.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Total production is also highest in Kharif: 82,387.61 tonnes.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These results describe observed seasonal differences; they do not by themselves establish causation.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94360" y="96012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9465A"/>
                </a:solidFill>
                <a:latin typeface="Aptos"/>
              </a:rPr>
              <a:t>Crop Performance by Season</a:t>
            </a:r>
          </a:p>
        </p:txBody>
      </p:sp>
      <p:pic>
        <p:nvPicPr>
          <p:cNvPr id="32" name="Picture 31" descr="crop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7315200" cy="37781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46720" y="10515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465A"/>
                </a:solidFill>
                <a:latin typeface="Aptos"/>
              </a:rPr>
              <a:t>Key finding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15544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Sugarcane has the highest average yield in all three seasons.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Sugarcane averages 53.46 tonnes/ha in Kharif, 43.29 in Rabi and 38.42 in Zaid.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Among the remaining crops, Maize has the highest average yield in each season.</a:t>
            </a:r>
          </a:p>
          <a:p>
            <a:pPr>
              <a:spcAft>
                <a:spcPts val="7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t>• Crop performance varies substantially by season and crop type.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profit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5486400" cy="31534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1051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9465A"/>
                </a:solidFill>
                <a:latin typeface="Aptos"/>
              </a:rPr>
              <a:t>Profitability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6459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Kharif shows the highest average profit: INR 178,914.65.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Rabi has an average profit of INR 87,689.47.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Zaid records a negative average profit of INR -24,804.82.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Total profit is positive for Kharif and Rabi, while Zaid shows a total loss of INR 14.73 million.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Profitability varies strongly across seasons and should be interpreted alongside crop and cost differences.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water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5486400" cy="31534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1051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9465A"/>
                </a:solidFill>
                <a:latin typeface="Aptos"/>
              </a:rPr>
              <a:t>Resource &amp; Efficiency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Average water use is highest in Zaid at 6,419.89 m³.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Kharif averages 6,102.20 m³, while Rabi averages 5,846.99 m³.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The notebook also evaluates water efficiency by crop and season.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The combination of yield, profit and water-use measures provides a broader view of agricultural performance.</a:t>
            </a:r>
          </a:p>
          <a:p>
            <a:pPr>
              <a:spcAft>
                <a:spcPts val="7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Resource-use patterns should be investigated further at crop and irrigation-method level.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400" b="1">
                <a:solidFill>
                  <a:srgbClr val="19465A"/>
                </a:solidFill>
                <a:latin typeface="Aptos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173736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Extend the analysis with more years of real-world agricultural records.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Add district-level and regional comparisons to identify localized patterns.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Study crop-specific relationships between environmental conditions, inputs, yield and profitability.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Analyze irrigation methods and water-efficiency patterns in greater detail.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Develop an interactive dashboard in a future phase if required.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Use predictive modelling in future work only after establishing a suitable validated dataset and modelling objective.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400" b="1">
                <a:solidFill>
                  <a:srgbClr val="19465A"/>
                </a:solidFill>
                <a:latin typeface="Aptos"/>
              </a:rPr>
              <a:t>GITHUB REPOSITORY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21359" y="1791017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E4B5F"/>
                </a:solidFill>
                <a:latin typeface="Aptos"/>
              </a:rPr>
              <a:t>Seasonal Agriculture Performance Data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9619" y="2494878"/>
            <a:ext cx="523900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dirty="0">
                <a:solidFill>
                  <a:srgbClr val="505A64"/>
                </a:solidFill>
                <a:latin typeface="Aptos"/>
              </a:rPr>
              <a:t>Repository link: </a:t>
            </a:r>
            <a:r>
              <a:rPr lang="en-US" sz="1700" dirty="0">
                <a:solidFill>
                  <a:srgbClr val="505A64"/>
                </a:solidFill>
                <a:latin typeface="Aptos"/>
              </a:rPr>
              <a:t>https://github.com/mayuri2256/Seasonal-Agriculture-Performance-Analysis</a:t>
            </a:r>
            <a:endParaRPr sz="1700" b="0" dirty="0">
              <a:solidFill>
                <a:srgbClr val="505A6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17910" y="3696788"/>
            <a:ext cx="5082418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dirty="0">
                <a:solidFill>
                  <a:srgbClr val="37414B"/>
                </a:solidFill>
                <a:latin typeface="Aptos"/>
              </a:rPr>
              <a:t>Recommended repository contents:
• </a:t>
            </a:r>
            <a:r>
              <a:rPr sz="1500" b="0" dirty="0" smtClean="0">
                <a:solidFill>
                  <a:srgbClr val="37414B"/>
                </a:solidFill>
                <a:latin typeface="Aptos"/>
              </a:rPr>
              <a:t>Seasonal</a:t>
            </a:r>
            <a:r>
              <a:rPr lang="en-US" sz="1500" b="0" dirty="0" smtClean="0">
                <a:solidFill>
                  <a:srgbClr val="37414B"/>
                </a:solidFill>
                <a:latin typeface="Aptos"/>
              </a:rPr>
              <a:t> </a:t>
            </a:r>
            <a:r>
              <a:rPr sz="1500" b="0" dirty="0" smtClean="0">
                <a:solidFill>
                  <a:srgbClr val="37414B"/>
                </a:solidFill>
                <a:latin typeface="Aptos"/>
              </a:rPr>
              <a:t>Agriculture</a:t>
            </a:r>
            <a:r>
              <a:rPr lang="en-US" sz="1500" b="0" dirty="0" smtClean="0">
                <a:solidFill>
                  <a:srgbClr val="37414B"/>
                </a:solidFill>
                <a:latin typeface="Aptos"/>
              </a:rPr>
              <a:t> </a:t>
            </a:r>
            <a:r>
              <a:rPr sz="1500" b="0" dirty="0" smtClean="0">
                <a:solidFill>
                  <a:srgbClr val="37414B"/>
                </a:solidFill>
                <a:latin typeface="Aptos"/>
              </a:rPr>
              <a:t>Performance</a:t>
            </a:r>
            <a:r>
              <a:rPr lang="en-US" sz="1500" b="0" dirty="0" smtClean="0">
                <a:solidFill>
                  <a:srgbClr val="37414B"/>
                </a:solidFill>
                <a:latin typeface="Aptos"/>
              </a:rPr>
              <a:t> </a:t>
            </a:r>
            <a:r>
              <a:rPr sz="1500" b="0" dirty="0" smtClean="0">
                <a:solidFill>
                  <a:srgbClr val="37414B"/>
                </a:solidFill>
                <a:latin typeface="Aptos"/>
              </a:rPr>
              <a:t>Data</a:t>
            </a:r>
            <a:r>
              <a:rPr lang="en-US" sz="1500" b="0" dirty="0" smtClean="0">
                <a:solidFill>
                  <a:srgbClr val="37414B"/>
                </a:solidFill>
                <a:latin typeface="Aptos"/>
              </a:rPr>
              <a:t> </a:t>
            </a:r>
            <a:r>
              <a:rPr sz="1500" b="0" dirty="0" err="1" smtClean="0">
                <a:solidFill>
                  <a:srgbClr val="37414B"/>
                </a:solidFill>
                <a:latin typeface="Aptos"/>
              </a:rPr>
              <a:t>Analytics.ipynb</a:t>
            </a:r>
            <a:r>
              <a:rPr sz="1500" b="0" dirty="0">
                <a:solidFill>
                  <a:srgbClr val="37414B"/>
                </a:solidFill>
                <a:latin typeface="Aptos"/>
              </a:rPr>
              <a:t>
• Dataset CSV
• Project PPT
• 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/>
          </a:bodyPr>
          <a:lstStyle/>
          <a:p>
            <a:pPr algn="l"/>
            <a:r>
              <a:rPr sz="2200" b="1">
                <a:solidFill>
                  <a:srgbClr val="19465A"/>
                </a:solidFill>
                <a:latin typeface="Aptos"/>
              </a:rPr>
              <a:t>VOIS COURSE COMPLETION CERTIFICATE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66651" y="986007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233741"/>
                </a:solidFill>
                <a:latin typeface="Aptos"/>
              </a:rPr>
              <a:t>Course: Data Visualization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465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8287"/>
                </a:solidFill>
                <a:latin typeface="Aptos"/>
              </a:rPr>
              <a:t>13/14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56" y="1521704"/>
            <a:ext cx="9189918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542" y="2516261"/>
            <a:ext cx="5065153" cy="21256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sz="4800" b="1" dirty="0">
                <a:solidFill>
                  <a:srgbClr val="19465A"/>
                </a:solidFill>
                <a:latin typeface="Aptos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605</TotalTime>
  <Words>773</Words>
  <Application>Microsoft Office PowerPoint</Application>
  <PresentationFormat>Widescreen</PresentationFormat>
  <Paragraphs>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Trebuchet MS</vt:lpstr>
      <vt:lpstr>Wingdings</vt:lpstr>
      <vt:lpstr>Wingdings 3</vt:lpstr>
      <vt:lpstr>Facet</vt:lpstr>
      <vt:lpstr>Seasonal Agriculture Performance Data Analytics</vt:lpstr>
      <vt:lpstr>PROBLEM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REPOSITORY</vt:lpstr>
      <vt:lpstr>VOIS COURSE COMPLETION CERTIFICATE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Admin</cp:lastModifiedBy>
  <cp:revision>100</cp:revision>
  <dcterms:created xsi:type="dcterms:W3CDTF">2021-07-11T13:13:15Z</dcterms:created>
  <dcterms:modified xsi:type="dcterms:W3CDTF">2026-09-09T18:02:12Z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